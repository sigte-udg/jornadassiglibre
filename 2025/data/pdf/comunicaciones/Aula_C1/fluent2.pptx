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1.png" ContentType="image/png"/>
  <Override PartName="/ppt/media/image2.png" ContentType="image/png"/>
  <Override PartName="/ppt/media/image4.png" ContentType="image/png"/>
  <Override PartName="/ppt/media/image10.png" ContentType="image/png"/>
  <Override PartName="/ppt/media/image5.png" ContentType="image/png"/>
  <Override PartName="/ppt/media/image11.png" ContentType="image/png"/>
  <Override PartName="/ppt/media/image7.png" ContentType="image/png"/>
  <Override PartName="/ppt/media/image13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_rels/.rels" ContentType="application/vnd.openxmlformats-package.relationships+xml"/>
  <Override PartName="/ppt/media/image14.png" ContentType="image/png"/>
  <Override PartName="/ppt/media/image9.png" ContentType="image/png"/>
  <Override PartName="/ppt/media/image8.png" ContentType="image/png"/>
  <Override PartName="/ppt/media/image12.png" ContentType="image/png"/>
  <Override PartName="/ppt/media/image6.png" ContentType="image/png"/>
  <Override PartName="/ppt/media/image3.png" ContentType="image/png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7104063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1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2.xml"/><Relationship Id="rId20" Type="http://schemas.openxmlformats.org/officeDocument/2006/relationships/customXml" Target="../customXml/item2.xml"/><Relationship Id="rId1" Type="http://schemas.openxmlformats.org/officeDocument/2006/relationships/theme" Target="theme/theme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customXml" Target="../customXml/item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835F58C-B595-48C8-B1E1-379B3F8A6BC7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37280" cy="34513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710280" y="4925520"/>
            <a:ext cx="5680080" cy="4026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4"/>
          </p:nvPr>
        </p:nvSpPr>
        <p:spPr>
          <a:xfrm>
            <a:off x="4024080" y="9721080"/>
            <a:ext cx="3075120" cy="510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3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C83451-207E-4983-B619-441D0201371B}" type="slidenum">
              <a:rPr b="0" lang="ca-ES" sz="13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áfico 8" descr=""/>
          <p:cNvPicPr/>
          <p:nvPr/>
        </p:nvPicPr>
        <p:blipFill>
          <a:blip r:embed="rId2"/>
          <a:stretch/>
        </p:blipFill>
        <p:spPr>
          <a:xfrm>
            <a:off x="10668960" y="470520"/>
            <a:ext cx="766800" cy="370080"/>
          </a:xfrm>
          <a:prstGeom prst="rect">
            <a:avLst/>
          </a:prstGeom>
          <a:ln w="0">
            <a:noFill/>
          </a:ln>
        </p:spPr>
      </p:pic>
      <p:sp>
        <p:nvSpPr>
          <p:cNvPr id="1" name="CuadroTexto 1"/>
          <p:cNvSpPr/>
          <p:nvPr/>
        </p:nvSpPr>
        <p:spPr>
          <a:xfrm>
            <a:off x="583560" y="402840"/>
            <a:ext cx="315936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s-ES" sz="750" spc="-1" strike="noStrike">
                <a:solidFill>
                  <a:srgbClr val="3c3c3b"/>
                </a:solidFill>
                <a:latin typeface="Montserrat"/>
                <a:ea typeface="DejaVu Sans"/>
              </a:rPr>
              <a:t>Water utilities GIS solution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ráfico 2" descr=""/>
          <p:cNvPicPr/>
          <p:nvPr/>
        </p:nvPicPr>
        <p:blipFill>
          <a:blip r:embed="rId3"/>
          <a:stretch/>
        </p:blipFill>
        <p:spPr>
          <a:xfrm>
            <a:off x="1194840" y="5911920"/>
            <a:ext cx="766800" cy="370080"/>
          </a:xfrm>
          <a:prstGeom prst="rect">
            <a:avLst/>
          </a:prstGeom>
          <a:ln w="0">
            <a:noFill/>
          </a:ln>
        </p:spPr>
      </p:pic>
      <p:pic>
        <p:nvPicPr>
          <p:cNvPr id="3" name="Imagen 3" descr=""/>
          <p:cNvPicPr/>
          <p:nvPr/>
        </p:nvPicPr>
        <p:blipFill>
          <a:blip r:embed="rId4"/>
          <a:stretch/>
        </p:blipFill>
        <p:spPr>
          <a:xfrm>
            <a:off x="636480" y="5882040"/>
            <a:ext cx="484920" cy="434880"/>
          </a:xfrm>
          <a:prstGeom prst="rect">
            <a:avLst/>
          </a:prstGeom>
          <a:ln w="0">
            <a:noFill/>
          </a:ln>
        </p:spPr>
      </p:pic>
      <p:pic>
        <p:nvPicPr>
          <p:cNvPr id="4" name="Gráfico 4" descr=""/>
          <p:cNvPicPr/>
          <p:nvPr/>
        </p:nvPicPr>
        <p:blipFill>
          <a:blip r:embed="rId5"/>
          <a:stretch/>
        </p:blipFill>
        <p:spPr>
          <a:xfrm>
            <a:off x="10668960" y="470520"/>
            <a:ext cx="766800" cy="370080"/>
          </a:xfrm>
          <a:prstGeom prst="rect">
            <a:avLst/>
          </a:prstGeom>
          <a:ln w="0">
            <a:noFill/>
          </a:ln>
        </p:spPr>
      </p:pic>
      <p:pic>
        <p:nvPicPr>
          <p:cNvPr id="5" name="Imagen 5" descr=""/>
          <p:cNvPicPr/>
          <p:nvPr/>
        </p:nvPicPr>
        <p:blipFill>
          <a:blip r:embed="rId6"/>
          <a:stretch/>
        </p:blipFill>
        <p:spPr>
          <a:xfrm>
            <a:off x="10110960" y="440640"/>
            <a:ext cx="484920" cy="43488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áfico 8" descr=""/>
          <p:cNvPicPr/>
          <p:nvPr/>
        </p:nvPicPr>
        <p:blipFill>
          <a:blip r:embed="rId2"/>
          <a:stretch/>
        </p:blipFill>
        <p:spPr>
          <a:xfrm>
            <a:off x="10668960" y="470520"/>
            <a:ext cx="766800" cy="37008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ráfico 6" descr=""/>
          <p:cNvPicPr/>
          <p:nvPr/>
        </p:nvPicPr>
        <p:blipFill>
          <a:blip r:embed="rId1"/>
          <a:stretch/>
        </p:blipFill>
        <p:spPr>
          <a:xfrm>
            <a:off x="740880" y="801360"/>
            <a:ext cx="1986120" cy="961200"/>
          </a:xfrm>
          <a:prstGeom prst="rect">
            <a:avLst/>
          </a:prstGeom>
          <a:ln w="0">
            <a:noFill/>
          </a:ln>
        </p:spPr>
      </p:pic>
      <p:pic>
        <p:nvPicPr>
          <p:cNvPr id="90" name="Gráfico 8" descr=""/>
          <p:cNvPicPr/>
          <p:nvPr/>
        </p:nvPicPr>
        <p:blipFill>
          <a:blip r:embed="rId2"/>
          <a:srcRect l="642" t="0" r="722" b="58377"/>
          <a:stretch/>
        </p:blipFill>
        <p:spPr>
          <a:xfrm>
            <a:off x="0" y="2833560"/>
            <a:ext cx="12188880" cy="4021200"/>
          </a:xfrm>
          <a:prstGeom prst="rect">
            <a:avLst/>
          </a:prstGeom>
          <a:ln w="0">
            <a:noFill/>
          </a:ln>
        </p:spPr>
      </p:pic>
      <p:sp>
        <p:nvSpPr>
          <p:cNvPr id="91" name="CuadroTexto 11"/>
          <p:cNvSpPr/>
          <p:nvPr/>
        </p:nvSpPr>
        <p:spPr>
          <a:xfrm>
            <a:off x="791640" y="3961080"/>
            <a:ext cx="8746920" cy="12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1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FLUENT: prediction of pipe leaks using IA, LEYP and log regression. Data pipeline using PostgreSQL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2" name="Grupo 10"/>
          <p:cNvGrpSpPr/>
          <p:nvPr/>
        </p:nvGrpSpPr>
        <p:grpSpPr>
          <a:xfrm>
            <a:off x="8784000" y="271080"/>
            <a:ext cx="4082760" cy="5738760"/>
            <a:chOff x="8784000" y="271080"/>
            <a:chExt cx="4082760" cy="5738760"/>
          </a:xfrm>
        </p:grpSpPr>
        <p:pic>
          <p:nvPicPr>
            <p:cNvPr id="93" name="Gráfico 14" descr=""/>
            <p:cNvPicPr/>
            <p:nvPr/>
          </p:nvPicPr>
          <p:blipFill>
            <a:blip r:embed="rId3"/>
            <a:stretch/>
          </p:blipFill>
          <p:spPr>
            <a:xfrm>
              <a:off x="8784000" y="271080"/>
              <a:ext cx="3810600" cy="5609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4" name="Gráfico 15" descr=""/>
            <p:cNvPicPr/>
            <p:nvPr/>
          </p:nvPicPr>
          <p:blipFill>
            <a:blip r:embed="rId4"/>
            <a:stretch/>
          </p:blipFill>
          <p:spPr>
            <a:xfrm>
              <a:off x="9056160" y="399960"/>
              <a:ext cx="3810600" cy="56098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5" name="CuadroTexto 1"/>
          <p:cNvSpPr/>
          <p:nvPr/>
        </p:nvSpPr>
        <p:spPr>
          <a:xfrm>
            <a:off x="791640" y="5220000"/>
            <a:ext cx="607032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Maria Guzmán, GIS Analyst @ BGEO OPEN GIS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5"/>
          <a:stretch/>
        </p:blipFill>
        <p:spPr>
          <a:xfrm>
            <a:off x="5220000" y="400680"/>
            <a:ext cx="2339640" cy="143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553680" y="734400"/>
            <a:ext cx="8084880" cy="46494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200" spc="-1" strike="noStrike">
                <a:solidFill>
                  <a:srgbClr val="0060a7"/>
                </a:solidFill>
                <a:latin typeface="Calibri"/>
                <a:ea typeface="DejaVu Sans"/>
              </a:rPr>
              <a:t>1. Contexto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200" spc="-1" strike="noStrike">
                <a:solidFill>
                  <a:srgbClr val="0060a7"/>
                </a:solidFill>
                <a:latin typeface="Calibri"/>
                <a:ea typeface="DejaVu Sans"/>
              </a:rPr>
              <a:t>2. Fases del proyecto y roles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200" spc="-1" strike="noStrike">
                <a:solidFill>
                  <a:srgbClr val="0060a7"/>
                </a:solidFill>
                <a:latin typeface="Calibri"/>
                <a:ea typeface="DejaVu Sans"/>
              </a:rPr>
              <a:t>3. Arquitectura de la base de datos: generalidades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200" spc="-1" strike="noStrike">
                <a:solidFill>
                  <a:srgbClr val="0060a7"/>
                </a:solidFill>
                <a:latin typeface="Calibri"/>
                <a:ea typeface="DejaVu Sans"/>
              </a:rPr>
              <a:t>4. Arquitectura de la base de datos: en detalle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200" spc="-1" strike="noStrike">
                <a:solidFill>
                  <a:srgbClr val="0060a7"/>
                </a:solidFill>
                <a:latin typeface="Calibri"/>
                <a:ea typeface="DejaVu Sans"/>
              </a:rPr>
              <a:t>5. Arquitectura de la base de datos: data pipeline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2" descr=""/>
          <p:cNvPicPr/>
          <p:nvPr/>
        </p:nvPicPr>
        <p:blipFill>
          <a:blip r:embed="rId1"/>
          <a:stretch/>
        </p:blipFill>
        <p:spPr>
          <a:xfrm>
            <a:off x="0" y="5884920"/>
            <a:ext cx="12188880" cy="969840"/>
          </a:xfrm>
          <a:prstGeom prst="rect">
            <a:avLst/>
          </a:prstGeom>
          <a:ln w="0">
            <a:noFill/>
          </a:ln>
        </p:spPr>
      </p:pic>
      <p:sp>
        <p:nvSpPr>
          <p:cNvPr id="99" name="CustomShape 4"/>
          <p:cNvSpPr/>
          <p:nvPr/>
        </p:nvSpPr>
        <p:spPr>
          <a:xfrm>
            <a:off x="142560" y="104760"/>
            <a:ext cx="535176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CONTENIDO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9720000" y="348120"/>
            <a:ext cx="899640" cy="55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7200000" y="4621320"/>
            <a:ext cx="3058920" cy="2037600"/>
          </a:xfrm>
          <a:prstGeom prst="rect">
            <a:avLst/>
          </a:prstGeom>
          <a:ln w="0">
            <a:noFill/>
          </a:ln>
        </p:spPr>
      </p:pic>
      <p:sp>
        <p:nvSpPr>
          <p:cNvPr id="102" name="CustomShape 3"/>
          <p:cNvSpPr/>
          <p:nvPr/>
        </p:nvSpPr>
        <p:spPr>
          <a:xfrm>
            <a:off x="142560" y="104760"/>
            <a:ext cx="535176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1. Contexto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2 Marcador de contenido 2"/>
          <p:cNvSpPr/>
          <p:nvPr/>
        </p:nvSpPr>
        <p:spPr>
          <a:xfrm>
            <a:off x="419760" y="900000"/>
            <a:ext cx="9658800" cy="32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¿Qué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probabilidad</a:t>
            </a: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hay de que haya una rotura de tubería?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¿Cuál es la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consecuencia</a:t>
            </a: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de que esto ocurra?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1620000" y="1980000"/>
            <a:ext cx="4678920" cy="263124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3"/>
          <a:stretch/>
        </p:blipFill>
        <p:spPr>
          <a:xfrm>
            <a:off x="6761880" y="1915920"/>
            <a:ext cx="3354480" cy="251892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4"/>
          <a:stretch/>
        </p:blipFill>
        <p:spPr>
          <a:xfrm>
            <a:off x="3600000" y="4680000"/>
            <a:ext cx="3418920" cy="200232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5"/>
          <a:stretch/>
        </p:blipFill>
        <p:spPr>
          <a:xfrm>
            <a:off x="9720000" y="348480"/>
            <a:ext cx="899640" cy="551520"/>
          </a:xfrm>
          <a:prstGeom prst="rect">
            <a:avLst/>
          </a:prstGeom>
          <a:ln w="0">
            <a:noFill/>
          </a:ln>
        </p:spPr>
      </p:pic>
      <p:pic>
        <p:nvPicPr>
          <p:cNvPr id="108" name="Picture 1" descr=""/>
          <p:cNvPicPr/>
          <p:nvPr/>
        </p:nvPicPr>
        <p:blipFill>
          <a:blip r:embed="rId6"/>
          <a:stretch/>
        </p:blipFill>
        <p:spPr>
          <a:xfrm>
            <a:off x="360" y="5885280"/>
            <a:ext cx="12188880" cy="96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2"/>
          <p:cNvSpPr/>
          <p:nvPr/>
        </p:nvSpPr>
        <p:spPr>
          <a:xfrm>
            <a:off x="142560" y="104760"/>
            <a:ext cx="535176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1. Context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2 Marcador de contenido 1"/>
          <p:cNvSpPr/>
          <p:nvPr/>
        </p:nvSpPr>
        <p:spPr>
          <a:xfrm>
            <a:off x="419760" y="900000"/>
            <a:ext cx="8398080" cy="32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Proyecto I+D financiado por la Generalitat de Catalunya (ACCIÓ)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Objetivo general: anticiparse a las roturas de tubería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Objetivo específico: desarrollar una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herramienta de ayuda a la toma de decisión</a:t>
            </a: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para calcular: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La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probabilidad</a:t>
            </a: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de rotura de tubería (FLUENT 1)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El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riesgo</a:t>
            </a: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de rotura de tubería (FLUENT 2)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Proyecto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open source</a:t>
            </a: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con 4 grandes compañías de agua que comparten datos de su red de forma anonimizada.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Resultados mostrados en un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visor web</a:t>
            </a: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para cada compañía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8460000" y="4025520"/>
            <a:ext cx="3011760" cy="155412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2"/>
          <a:stretch/>
        </p:blipFill>
        <p:spPr>
          <a:xfrm>
            <a:off x="9720000" y="348480"/>
            <a:ext cx="899640" cy="55152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3" descr=""/>
          <p:cNvPicPr/>
          <p:nvPr/>
        </p:nvPicPr>
        <p:blipFill>
          <a:blip r:embed="rId3"/>
          <a:stretch/>
        </p:blipFill>
        <p:spPr>
          <a:xfrm>
            <a:off x="360" y="5885280"/>
            <a:ext cx="12188880" cy="96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7"/>
          <p:cNvSpPr/>
          <p:nvPr/>
        </p:nvSpPr>
        <p:spPr>
          <a:xfrm>
            <a:off x="142560" y="104760"/>
            <a:ext cx="535176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2. Fases del proyecto y roles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2 Marcador de contenido 4"/>
          <p:cNvSpPr/>
          <p:nvPr/>
        </p:nvSpPr>
        <p:spPr>
          <a:xfrm>
            <a:off x="419760" y="900000"/>
            <a:ext cx="8398080" cy="32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479"/>
              </a:spcBef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2 Marcador de contenido 5"/>
          <p:cNvSpPr/>
          <p:nvPr/>
        </p:nvSpPr>
        <p:spPr>
          <a:xfrm>
            <a:off x="419760" y="900000"/>
            <a:ext cx="9658800" cy="32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2 roles</a:t>
            </a: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: compañías de agua y empresas tecnológicas.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9720000" y="348480"/>
            <a:ext cx="899640" cy="55152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4" descr=""/>
          <p:cNvPicPr/>
          <p:nvPr/>
        </p:nvPicPr>
        <p:blipFill>
          <a:blip r:embed="rId2"/>
          <a:stretch/>
        </p:blipFill>
        <p:spPr>
          <a:xfrm>
            <a:off x="360" y="5885280"/>
            <a:ext cx="12188880" cy="969840"/>
          </a:xfrm>
          <a:prstGeom prst="rect">
            <a:avLst/>
          </a:prstGeom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3"/>
          <a:stretch/>
        </p:blipFill>
        <p:spPr>
          <a:xfrm>
            <a:off x="1406520" y="1440000"/>
            <a:ext cx="8313120" cy="410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6"/>
          <p:cNvSpPr/>
          <p:nvPr/>
        </p:nvSpPr>
        <p:spPr>
          <a:xfrm>
            <a:off x="142560" y="104760"/>
            <a:ext cx="867600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3. Arquitectura de la base de datos: generalidades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2 Marcador de contenido 3"/>
          <p:cNvSpPr/>
          <p:nvPr/>
        </p:nvSpPr>
        <p:spPr>
          <a:xfrm>
            <a:off x="419760" y="900000"/>
            <a:ext cx="8398080" cy="32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Origen de datos: gpkg, CSV, backups, ...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Base de datos de destino: PostgreSQL con PostGIS y pgRouting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Algoritmos: Python (LEYP, IA, regresión lineal)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Visor web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9720000" y="348480"/>
            <a:ext cx="899640" cy="55152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5" descr=""/>
          <p:cNvPicPr/>
          <p:nvPr/>
        </p:nvPicPr>
        <p:blipFill>
          <a:blip r:embed="rId2"/>
          <a:stretch/>
        </p:blipFill>
        <p:spPr>
          <a:xfrm>
            <a:off x="360" y="5885280"/>
            <a:ext cx="12188880" cy="96984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3"/>
          <a:stretch/>
        </p:blipFill>
        <p:spPr>
          <a:xfrm>
            <a:off x="2879640" y="2287440"/>
            <a:ext cx="7028640" cy="347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1620000" y="865800"/>
            <a:ext cx="7559640" cy="489384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8782200" y="1049760"/>
            <a:ext cx="757440" cy="67464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3"/>
          <a:stretch/>
        </p:blipFill>
        <p:spPr>
          <a:xfrm>
            <a:off x="7560000" y="4140000"/>
            <a:ext cx="789120" cy="703080"/>
          </a:xfrm>
          <a:prstGeom prst="rect">
            <a:avLst/>
          </a:prstGeom>
          <a:ln w="0">
            <a:noFill/>
          </a:ln>
        </p:spPr>
      </p:pic>
      <p:sp>
        <p:nvSpPr>
          <p:cNvPr id="128" name="CustomShape 5"/>
          <p:cNvSpPr/>
          <p:nvPr/>
        </p:nvSpPr>
        <p:spPr>
          <a:xfrm>
            <a:off x="142560" y="104760"/>
            <a:ext cx="867600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3. Arquitectura de la base de datos: en detalle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4"/>
          <a:stretch/>
        </p:blipFill>
        <p:spPr>
          <a:xfrm>
            <a:off x="9720000" y="348480"/>
            <a:ext cx="899640" cy="55152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6" descr=""/>
          <p:cNvPicPr/>
          <p:nvPr/>
        </p:nvPicPr>
        <p:blipFill>
          <a:blip r:embed="rId5"/>
          <a:stretch/>
        </p:blipFill>
        <p:spPr>
          <a:xfrm>
            <a:off x="360" y="5885280"/>
            <a:ext cx="12188880" cy="969840"/>
          </a:xfrm>
          <a:prstGeom prst="rect">
            <a:avLst/>
          </a:prstGeom>
          <a:ln w="0">
            <a:noFill/>
          </a:ln>
        </p:spPr>
      </p:pic>
      <p:sp>
        <p:nvSpPr>
          <p:cNvPr id="131" name=""/>
          <p:cNvSpPr/>
          <p:nvPr/>
        </p:nvSpPr>
        <p:spPr>
          <a:xfrm>
            <a:off x="4500000" y="865800"/>
            <a:ext cx="5040000" cy="4894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1440000" y="3779640"/>
            <a:ext cx="5040000" cy="198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1620000" y="865800"/>
            <a:ext cx="7559640" cy="4893840"/>
          </a:xfrm>
          <a:prstGeom prst="rect">
            <a:avLst/>
          </a:prstGeom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2"/>
          <a:stretch/>
        </p:blipFill>
        <p:spPr>
          <a:xfrm>
            <a:off x="8782200" y="1049760"/>
            <a:ext cx="757440" cy="674640"/>
          </a:xfrm>
          <a:prstGeom prst="rect">
            <a:avLst/>
          </a:prstGeom>
          <a:ln w="0">
            <a:noFill/>
          </a:ln>
        </p:spPr>
      </p:pic>
      <p:pic>
        <p:nvPicPr>
          <p:cNvPr id="135" name="" descr=""/>
          <p:cNvPicPr/>
          <p:nvPr/>
        </p:nvPicPr>
        <p:blipFill>
          <a:blip r:embed="rId3"/>
          <a:stretch/>
        </p:blipFill>
        <p:spPr>
          <a:xfrm>
            <a:off x="7560000" y="4140000"/>
            <a:ext cx="789120" cy="703080"/>
          </a:xfrm>
          <a:prstGeom prst="rect">
            <a:avLst/>
          </a:prstGeom>
          <a:ln w="0">
            <a:noFill/>
          </a:ln>
        </p:spPr>
      </p:pic>
      <p:sp>
        <p:nvSpPr>
          <p:cNvPr id="136" name="CustomShape 10"/>
          <p:cNvSpPr/>
          <p:nvPr/>
        </p:nvSpPr>
        <p:spPr>
          <a:xfrm>
            <a:off x="142560" y="104760"/>
            <a:ext cx="867600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3. Arquitectura de la base de datos: en detalle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4"/>
          <a:stretch/>
        </p:blipFill>
        <p:spPr>
          <a:xfrm>
            <a:off x="9720000" y="348480"/>
            <a:ext cx="899640" cy="55152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9" descr=""/>
          <p:cNvPicPr/>
          <p:nvPr/>
        </p:nvPicPr>
        <p:blipFill>
          <a:blip r:embed="rId5"/>
          <a:stretch/>
        </p:blipFill>
        <p:spPr>
          <a:xfrm>
            <a:off x="360" y="5885280"/>
            <a:ext cx="12188880" cy="969840"/>
          </a:xfrm>
          <a:prstGeom prst="rect">
            <a:avLst/>
          </a:prstGeom>
          <a:ln w="0">
            <a:noFill/>
          </a:ln>
        </p:spPr>
      </p:pic>
      <p:sp>
        <p:nvSpPr>
          <p:cNvPr id="139" name=""/>
          <p:cNvSpPr/>
          <p:nvPr/>
        </p:nvSpPr>
        <p:spPr>
          <a:xfrm>
            <a:off x="4500000" y="2880000"/>
            <a:ext cx="5040000" cy="288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440000" y="3779640"/>
            <a:ext cx="5040000" cy="198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8460000" y="900000"/>
            <a:ext cx="1080000" cy="48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1620000" y="865800"/>
            <a:ext cx="7559640" cy="489384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8782200" y="1049760"/>
            <a:ext cx="757440" cy="67464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7560000" y="4140000"/>
            <a:ext cx="789120" cy="703080"/>
          </a:xfrm>
          <a:prstGeom prst="rect">
            <a:avLst/>
          </a:prstGeom>
          <a:ln w="0">
            <a:noFill/>
          </a:ln>
        </p:spPr>
      </p:pic>
      <p:sp>
        <p:nvSpPr>
          <p:cNvPr id="145" name="CustomShape 11"/>
          <p:cNvSpPr/>
          <p:nvPr/>
        </p:nvSpPr>
        <p:spPr>
          <a:xfrm>
            <a:off x="142560" y="104760"/>
            <a:ext cx="867600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3. Arquitectura de la base de datos: en detalle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4"/>
          <a:stretch/>
        </p:blipFill>
        <p:spPr>
          <a:xfrm>
            <a:off x="9720000" y="348480"/>
            <a:ext cx="899640" cy="55152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10" descr=""/>
          <p:cNvPicPr/>
          <p:nvPr/>
        </p:nvPicPr>
        <p:blipFill>
          <a:blip r:embed="rId5"/>
          <a:stretch/>
        </p:blipFill>
        <p:spPr>
          <a:xfrm>
            <a:off x="360" y="5885280"/>
            <a:ext cx="12188880" cy="969840"/>
          </a:xfrm>
          <a:prstGeom prst="rect">
            <a:avLst/>
          </a:prstGeom>
          <a:ln w="0">
            <a:noFill/>
          </a:ln>
        </p:spPr>
      </p:pic>
      <p:sp>
        <p:nvSpPr>
          <p:cNvPr id="148" name=""/>
          <p:cNvSpPr/>
          <p:nvPr/>
        </p:nvSpPr>
        <p:spPr>
          <a:xfrm>
            <a:off x="1440000" y="3779640"/>
            <a:ext cx="3420000" cy="198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1620000" y="865800"/>
            <a:ext cx="7559640" cy="489384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8782200" y="1049760"/>
            <a:ext cx="757440" cy="674640"/>
          </a:xfrm>
          <a:prstGeom prst="rect">
            <a:avLst/>
          </a:prstGeom>
          <a:ln w="0">
            <a:noFill/>
          </a:ln>
        </p:spPr>
      </p:pic>
      <p:pic>
        <p:nvPicPr>
          <p:cNvPr id="151" name="" descr=""/>
          <p:cNvPicPr/>
          <p:nvPr/>
        </p:nvPicPr>
        <p:blipFill>
          <a:blip r:embed="rId3"/>
          <a:stretch/>
        </p:blipFill>
        <p:spPr>
          <a:xfrm>
            <a:off x="7560000" y="4140000"/>
            <a:ext cx="789120" cy="703080"/>
          </a:xfrm>
          <a:prstGeom prst="rect">
            <a:avLst/>
          </a:prstGeom>
          <a:ln w="0">
            <a:noFill/>
          </a:ln>
        </p:spPr>
      </p:pic>
      <p:sp>
        <p:nvSpPr>
          <p:cNvPr id="152" name="CustomShape 12"/>
          <p:cNvSpPr/>
          <p:nvPr/>
        </p:nvSpPr>
        <p:spPr>
          <a:xfrm>
            <a:off x="142560" y="104760"/>
            <a:ext cx="867600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3. Arquitectura de la base de datos: en detalle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4"/>
          <a:stretch/>
        </p:blipFill>
        <p:spPr>
          <a:xfrm>
            <a:off x="9720000" y="348480"/>
            <a:ext cx="899640" cy="551520"/>
          </a:xfrm>
          <a:prstGeom prst="rect">
            <a:avLst/>
          </a:prstGeom>
          <a:ln w="0">
            <a:noFill/>
          </a:ln>
        </p:spPr>
      </p:pic>
      <p:pic>
        <p:nvPicPr>
          <p:cNvPr id="154" name="Picture 11" descr=""/>
          <p:cNvPicPr/>
          <p:nvPr/>
        </p:nvPicPr>
        <p:blipFill>
          <a:blip r:embed="rId5"/>
          <a:stretch/>
        </p:blipFill>
        <p:spPr>
          <a:xfrm>
            <a:off x="360" y="5885280"/>
            <a:ext cx="12188880" cy="96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8"/>
          <p:cNvSpPr/>
          <p:nvPr/>
        </p:nvSpPr>
        <p:spPr>
          <a:xfrm>
            <a:off x="142560" y="104760"/>
            <a:ext cx="975600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4. Arquitectura de la base de datos: data pipeline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4989600" y="2160000"/>
            <a:ext cx="7202160" cy="3620520"/>
          </a:xfrm>
          <a:prstGeom prst="rect">
            <a:avLst/>
          </a:prstGeom>
          <a:ln w="0">
            <a:noFill/>
          </a:ln>
        </p:spPr>
      </p:pic>
      <p:sp>
        <p:nvSpPr>
          <p:cNvPr id="157" name="2 Marcador de contenido 6"/>
          <p:cNvSpPr/>
          <p:nvPr/>
        </p:nvSpPr>
        <p:spPr>
          <a:xfrm>
            <a:off x="419760" y="900000"/>
            <a:ext cx="8398080" cy="32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Objetivo: estandarizar los datos de entrada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GAPS: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Información diferente/tipos de objetos diferentes para importar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Incluir nuevas compañías de agua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2"/>
          <a:stretch/>
        </p:blipFill>
        <p:spPr>
          <a:xfrm>
            <a:off x="9720000" y="348480"/>
            <a:ext cx="899640" cy="55152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7" descr=""/>
          <p:cNvPicPr/>
          <p:nvPr/>
        </p:nvPicPr>
        <p:blipFill>
          <a:blip r:embed="rId3"/>
          <a:stretch/>
        </p:blipFill>
        <p:spPr>
          <a:xfrm>
            <a:off x="360" y="5885280"/>
            <a:ext cx="12188880" cy="96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9"/>
          <p:cNvSpPr/>
          <p:nvPr/>
        </p:nvSpPr>
        <p:spPr>
          <a:xfrm>
            <a:off x="142560" y="104760"/>
            <a:ext cx="9756000" cy="944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80000" anchor="t">
            <a:noAutofit/>
          </a:bodyPr>
          <a:p>
            <a:pPr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s-ES" sz="2800" spc="-1" strike="noStrike">
                <a:solidFill>
                  <a:srgbClr val="0060a7"/>
                </a:solidFill>
                <a:latin typeface="Calibri"/>
                <a:ea typeface="DejaVu Sans"/>
              </a:rPr>
              <a:t>4. Arquitectura de la base de datos: data pipeline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2 Marcador de contenido 7"/>
          <p:cNvSpPr/>
          <p:nvPr/>
        </p:nvSpPr>
        <p:spPr>
          <a:xfrm>
            <a:off x="419760" y="1119600"/>
            <a:ext cx="8398080" cy="32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Solución: procedimientos almacenados dinámicos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1364400" y="2105640"/>
            <a:ext cx="9074160" cy="3472920"/>
          </a:xfrm>
          <a:prstGeom prst="rect">
            <a:avLst/>
          </a:prstGeom>
          <a:ln w="0">
            <a:noFill/>
          </a:ln>
        </p:spPr>
      </p:pic>
      <p:pic>
        <p:nvPicPr>
          <p:cNvPr id="163" name="" descr=""/>
          <p:cNvPicPr/>
          <p:nvPr/>
        </p:nvPicPr>
        <p:blipFill>
          <a:blip r:embed="rId2"/>
          <a:stretch/>
        </p:blipFill>
        <p:spPr>
          <a:xfrm>
            <a:off x="9720000" y="348480"/>
            <a:ext cx="899640" cy="551520"/>
          </a:xfrm>
          <a:prstGeom prst="rect">
            <a:avLst/>
          </a:prstGeom>
          <a:ln w="0">
            <a:noFill/>
          </a:ln>
        </p:spPr>
      </p:pic>
      <p:pic>
        <p:nvPicPr>
          <p:cNvPr id="164" name="Picture 8" descr=""/>
          <p:cNvPicPr/>
          <p:nvPr/>
        </p:nvPicPr>
        <p:blipFill>
          <a:blip r:embed="rId3"/>
          <a:stretch/>
        </p:blipFill>
        <p:spPr>
          <a:xfrm>
            <a:off x="360" y="5885280"/>
            <a:ext cx="12188880" cy="96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1620000" y="1540800"/>
            <a:ext cx="5758200" cy="7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s-ES" sz="5000" spc="-1" strike="noStrike">
                <a:solidFill>
                  <a:srgbClr val="3465a4"/>
                </a:solidFill>
                <a:latin typeface="Calibri"/>
                <a:ea typeface="DejaVu Sans"/>
              </a:rPr>
              <a:t>GRACIAS !</a:t>
            </a:r>
            <a:endParaRPr b="0" lang="es-ES" sz="5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66" name="Gráfico 17" descr=""/>
          <p:cNvPicPr/>
          <p:nvPr/>
        </p:nvPicPr>
        <p:blipFill>
          <a:blip r:embed="rId1"/>
          <a:srcRect l="642" t="0" r="722" b="58377"/>
          <a:stretch/>
        </p:blipFill>
        <p:spPr>
          <a:xfrm>
            <a:off x="0" y="2833920"/>
            <a:ext cx="12188880" cy="4021200"/>
          </a:xfrm>
          <a:prstGeom prst="rect">
            <a:avLst/>
          </a:prstGeom>
          <a:ln w="0">
            <a:noFill/>
          </a:ln>
        </p:spPr>
      </p:pic>
      <p:grpSp>
        <p:nvGrpSpPr>
          <p:cNvPr id="167" name="Grupo 3"/>
          <p:cNvGrpSpPr/>
          <p:nvPr/>
        </p:nvGrpSpPr>
        <p:grpSpPr>
          <a:xfrm>
            <a:off x="8784000" y="271440"/>
            <a:ext cx="4082760" cy="5738760"/>
            <a:chOff x="8784000" y="271440"/>
            <a:chExt cx="4082760" cy="5738760"/>
          </a:xfrm>
        </p:grpSpPr>
        <p:pic>
          <p:nvPicPr>
            <p:cNvPr id="168" name="Gráfico 18" descr=""/>
            <p:cNvPicPr/>
            <p:nvPr/>
          </p:nvPicPr>
          <p:blipFill>
            <a:blip r:embed="rId2"/>
            <a:stretch/>
          </p:blipFill>
          <p:spPr>
            <a:xfrm>
              <a:off x="8784000" y="271440"/>
              <a:ext cx="3810600" cy="5609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9" name="Gráfico 19" descr=""/>
            <p:cNvPicPr/>
            <p:nvPr/>
          </p:nvPicPr>
          <p:blipFill>
            <a:blip r:embed="rId3"/>
            <a:stretch/>
          </p:blipFill>
          <p:spPr>
            <a:xfrm>
              <a:off x="9056160" y="400320"/>
              <a:ext cx="3810600" cy="56098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0" name="CuadroTexto 3"/>
          <p:cNvSpPr/>
          <p:nvPr/>
        </p:nvSpPr>
        <p:spPr>
          <a:xfrm>
            <a:off x="3270240" y="4524120"/>
            <a:ext cx="564840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50000"/>
              </a:lnSpc>
            </a:pPr>
            <a:r>
              <a:rPr b="0" lang="ca-ES" sz="1200" spc="75" strike="noStrike">
                <a:solidFill>
                  <a:srgbClr val="ffffff"/>
                </a:solidFill>
                <a:latin typeface="Montserrat"/>
                <a:ea typeface="DejaVu Sans"/>
              </a:rPr>
              <a:t>www.bgeo.es/en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0" lang="ca-ES" sz="1200" spc="75" strike="noStrike">
                <a:solidFill>
                  <a:srgbClr val="ffffff"/>
                </a:solidFill>
                <a:latin typeface="Montserrat"/>
                <a:ea typeface="DejaVu Sans"/>
              </a:rPr>
              <a:t>T. +34 938 600 293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0" lang="ca-ES" sz="1200" spc="75" strike="noStrike">
                <a:solidFill>
                  <a:srgbClr val="ffffff"/>
                </a:solidFill>
                <a:latin typeface="Montserrat"/>
                <a:ea typeface="DejaVu Sans"/>
              </a:rPr>
              <a:t>info@bgeo.es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Gráfico 2" descr=""/>
          <p:cNvPicPr/>
          <p:nvPr/>
        </p:nvPicPr>
        <p:blipFill>
          <a:blip r:embed="rId4"/>
          <a:stretch/>
        </p:blipFill>
        <p:spPr>
          <a:xfrm>
            <a:off x="5551560" y="5770440"/>
            <a:ext cx="1086480" cy="164520"/>
          </a:xfrm>
          <a:prstGeom prst="rect">
            <a:avLst/>
          </a:prstGeom>
          <a:ln w="0">
            <a:noFill/>
          </a:ln>
        </p:spPr>
      </p:pic>
      <p:pic>
        <p:nvPicPr>
          <p:cNvPr id="172" name="" descr=""/>
          <p:cNvPicPr/>
          <p:nvPr/>
        </p:nvPicPr>
        <p:blipFill>
          <a:blip r:embed="rId5"/>
          <a:stretch/>
        </p:blipFill>
        <p:spPr>
          <a:xfrm>
            <a:off x="360000" y="180000"/>
            <a:ext cx="899640" cy="55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7BE9354080B44DBB4F9438B37FEC99" ma:contentTypeVersion="14" ma:contentTypeDescription="Crea un document nou" ma:contentTypeScope="" ma:versionID="2aba299811f623a21bdc8d7629595e38">
  <xsd:schema xmlns:xsd="http://www.w3.org/2001/XMLSchema" xmlns:xs="http://www.w3.org/2001/XMLSchema" xmlns:p="http://schemas.microsoft.com/office/2006/metadata/properties" xmlns:ns2="8e9f5e8f-0041-4093-ade7-46dc664b6ab2" xmlns:ns3="8dc9a70f-7259-45e9-bfe0-7506b9d74012" targetNamespace="http://schemas.microsoft.com/office/2006/metadata/properties" ma:root="true" ma:fieldsID="83fa62a47cbb8772370f493e3b8925f0" ns2:_="" ns3:_="">
    <xsd:import namespace="8e9f5e8f-0041-4093-ade7-46dc664b6ab2"/>
    <xsd:import namespace="8dc9a70f-7259-45e9-bfe0-7506b9d740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f5e8f-0041-4093-ade7-46dc664b6a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es de la imatge" ma:readOnly="false" ma:fieldId="{5cf76f15-5ced-4ddc-b409-7134ff3c332f}" ma:taxonomyMulti="true" ma:sspId="0b67b547-ee38-46e8-9337-86456358d8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c9a70f-7259-45e9-bfe0-7506b9d7401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t amb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'ha compartit amb detal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3c7cd9b-b0af-429c-8159-d656dbebb737}" ma:internalName="TaxCatchAll" ma:showField="CatchAllData" ma:web="8dc9a70f-7259-45e9-bfe0-7506b9d740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us de contingut"/>
        <xsd:element ref="dc:title" minOccurs="0" maxOccurs="1" ma:index="4" ma:displayName="Títo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e9f5e8f-0041-4093-ade7-46dc664b6ab2">
      <Terms xmlns="http://schemas.microsoft.com/office/infopath/2007/PartnerControls"/>
    </lcf76f155ced4ddcb4097134ff3c332f>
    <TaxCatchAll xmlns="8dc9a70f-7259-45e9-bfe0-7506b9d74012" xsi:nil="true"/>
  </documentManagement>
</p:properties>
</file>

<file path=customXml/itemProps1.xml><?xml version="1.0" encoding="utf-8"?>
<ds:datastoreItem xmlns:ds="http://schemas.openxmlformats.org/officeDocument/2006/customXml" ds:itemID="{5AF134B0-BEA6-4BA3-AB21-4D7F736DAFD2}"/>
</file>

<file path=customXml/itemProps2.xml><?xml version="1.0" encoding="utf-8"?>
<ds:datastoreItem xmlns:ds="http://schemas.openxmlformats.org/officeDocument/2006/customXml" ds:itemID="{B394E84F-8A24-4616-8932-FD06BB4A5A0A}"/>
</file>

<file path=customXml/itemProps3.xml><?xml version="1.0" encoding="utf-8"?>
<ds:datastoreItem xmlns:ds="http://schemas.openxmlformats.org/officeDocument/2006/customXml" ds:itemID="{C52EB8C2-5A32-4580-B212-AD202EE6C23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5789</TotalTime>
  <Application>LibreOffice/7.5.3.2$Windows_X86_64 LibreOffice_project/9f56dff12ba03b9acd7730a5a481eea045e468f3</Application>
  <AppVersion>15.0000</AppVersion>
  <Words>391</Words>
  <Paragraphs>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CORPORATE_GIS</dc:title>
  <dc:subject/>
  <dc:creator>Marta Aguiló</dc:creator>
  <dc:description/>
  <cp:lastModifiedBy/>
  <cp:revision>285</cp:revision>
  <cp:lastPrinted>2025-07-13T19:02:10Z</cp:lastPrinted>
  <dcterms:created xsi:type="dcterms:W3CDTF">2022-07-20T16:16:03Z</dcterms:created>
  <dcterms:modified xsi:type="dcterms:W3CDTF">2025-09-16T09:45:46Z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Personalizado</vt:lpwstr>
  </property>
  <property fmtid="{D5CDD505-2E9C-101B-9397-08002B2CF9AE}" pid="4" name="Slides">
    <vt:i4>16</vt:i4>
  </property>
  <property fmtid="{D5CDD505-2E9C-101B-9397-08002B2CF9AE}" pid="5" name="ContentTypeId">
    <vt:lpwstr>0x010100817BE9354080B44DBB4F9438B37FEC99</vt:lpwstr>
  </property>
</Properties>
</file>